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8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0D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66760" y="91440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27080" y="84582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66760" y="150876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0" y="144018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66760" y="210312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27080" y="2034539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66760" y="269748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27080" y="262890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66760" y="329184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27080" y="322326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388620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927080" y="381762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448056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27080" y="441198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507492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27080" y="500634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66760" y="5669280"/>
            <a:ext cx="2651760" cy="2286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27080" y="5600700"/>
            <a:ext cx="155448" cy="15544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549640" y="914400"/>
            <a:ext cx="22860" cy="4754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914400"/>
            <a:ext cx="22860" cy="4754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21240" y="914400"/>
            <a:ext cx="22860" cy="4754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607040" y="914400"/>
            <a:ext cx="22860" cy="4754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292840" y="914400"/>
            <a:ext cx="22860" cy="4754880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" y="804672"/>
            <a:ext cx="82296" cy="102412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749808"/>
            <a:ext cx="6583680" cy="29260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000" b="1">
                <a:solidFill>
                  <a:srgbClr val="00DCE6"/>
                </a:solidFill>
                <a:latin typeface="Aptos"/>
              </a:rPr>
              <a:t>DIGITAL LOGIC DESIGN  / 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1234440"/>
            <a:ext cx="6720840" cy="1874519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900" b="1">
                <a:solidFill>
                  <a:srgbClr val="F2F8FF"/>
                </a:solidFill>
                <a:latin typeface="Aptos"/>
              </a:rPr>
              <a:t>DESIGN &amp; SIMULATION OF A
DIGITAL DOOR ACCESS
CONTROL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337560"/>
            <a:ext cx="6583680" cy="4114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600" b="0">
                <a:solidFill>
                  <a:srgbClr val="ADC3DA"/>
                </a:solidFill>
                <a:latin typeface="Aptos"/>
              </a:rPr>
              <a:t>A logic-based approach to secure access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069080"/>
            <a:ext cx="6583680" cy="1965960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70432" y="4270248"/>
            <a:ext cx="5943600" cy="25603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100" b="1">
                <a:solidFill>
                  <a:srgbClr val="00DCE6"/>
                </a:solidFill>
                <a:latin typeface="Aptos"/>
              </a:rPr>
              <a:t>PROJECT TEAM</a:t>
            </a:r>
          </a:p>
        </p:txBody>
      </p:sp>
      <p:sp>
        <p:nvSpPr>
          <p:cNvPr id="32" name="Oval 31"/>
          <p:cNvSpPr/>
          <p:nvPr/>
        </p:nvSpPr>
        <p:spPr>
          <a:xfrm>
            <a:off x="1170432" y="4718304"/>
            <a:ext cx="109728" cy="109728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4681728"/>
            <a:ext cx="27432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1">
                <a:solidFill>
                  <a:srgbClr val="F2F8FF"/>
                </a:solidFill>
                <a:latin typeface="Aptos"/>
              </a:rPr>
              <a:t>2620080034  —  Srihitha</a:t>
            </a:r>
          </a:p>
        </p:txBody>
      </p:sp>
      <p:sp>
        <p:nvSpPr>
          <p:cNvPr id="34" name="Oval 33"/>
          <p:cNvSpPr/>
          <p:nvPr/>
        </p:nvSpPr>
        <p:spPr>
          <a:xfrm>
            <a:off x="4233672" y="4718304"/>
            <a:ext cx="109728" cy="10972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34840" y="4681728"/>
            <a:ext cx="27432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1">
                <a:solidFill>
                  <a:srgbClr val="F2F8FF"/>
                </a:solidFill>
                <a:latin typeface="Aptos"/>
              </a:rPr>
              <a:t>2620080017  —  Pranathi</a:t>
            </a:r>
          </a:p>
        </p:txBody>
      </p:sp>
      <p:sp>
        <p:nvSpPr>
          <p:cNvPr id="36" name="Oval 35"/>
          <p:cNvSpPr/>
          <p:nvPr/>
        </p:nvSpPr>
        <p:spPr>
          <a:xfrm>
            <a:off x="1170432" y="5248656"/>
            <a:ext cx="109728" cy="109728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1600" y="5212080"/>
            <a:ext cx="27432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1">
                <a:solidFill>
                  <a:srgbClr val="F2F8FF"/>
                </a:solidFill>
                <a:latin typeface="Aptos"/>
              </a:rPr>
              <a:t>2620080018  —  Lahari</a:t>
            </a:r>
          </a:p>
        </p:txBody>
      </p:sp>
      <p:sp>
        <p:nvSpPr>
          <p:cNvPr id="38" name="Oval 37"/>
          <p:cNvSpPr/>
          <p:nvPr/>
        </p:nvSpPr>
        <p:spPr>
          <a:xfrm>
            <a:off x="4233672" y="5248656"/>
            <a:ext cx="109728" cy="109728"/>
          </a:xfrm>
          <a:prstGeom prst="ellipse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34840" y="5212080"/>
            <a:ext cx="27432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1">
                <a:solidFill>
                  <a:srgbClr val="F2F8FF"/>
                </a:solidFill>
                <a:latin typeface="Aptos"/>
              </a:rPr>
              <a:t>2620080051  —  Nitish</a:t>
            </a:r>
          </a:p>
        </p:txBody>
      </p:sp>
      <p:sp>
        <p:nvSpPr>
          <p:cNvPr id="40" name="Arc 39"/>
          <p:cNvSpPr/>
          <p:nvPr/>
        </p:nvSpPr>
        <p:spPr>
          <a:xfrm>
            <a:off x="9555480" y="1417320"/>
            <a:ext cx="1417320" cy="1508760"/>
          </a:xfrm>
          <a:prstGeom prst="arc">
            <a:avLst/>
          </a:prstGeom>
          <a:noFill/>
          <a:ln w="15240">
            <a:solidFill>
              <a:srgbClr val="00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235440" y="2240280"/>
            <a:ext cx="2057400" cy="1737360"/>
          </a:xfrm>
          <a:prstGeom prst="roundRect">
            <a:avLst/>
          </a:prstGeom>
          <a:solidFill>
            <a:srgbClr val="00DCE6"/>
          </a:solidFill>
          <a:ln w="15240">
            <a:solidFill>
              <a:srgbClr val="00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012680" y="2679192"/>
            <a:ext cx="502920" cy="502920"/>
          </a:xfrm>
          <a:prstGeom prst="ellipse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204704" y="3063240"/>
            <a:ext cx="128016" cy="438912"/>
          </a:xfrm>
          <a:prstGeom prst="rect">
            <a:avLst/>
          </a:prstGeom>
          <a:solidFill>
            <a:srgbClr val="071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9640" y="4434840"/>
            <a:ext cx="3291840" cy="5486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100" b="1">
                <a:solidFill>
                  <a:srgbClr val="00DCE6"/>
                </a:solidFill>
                <a:latin typeface="Aptos"/>
              </a:rPr>
              <a:t>ACCESS  /  VERIFY  /  UNLOCK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6172200"/>
            <a:ext cx="2926080" cy="219456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900" b="1">
                <a:solidFill>
                  <a:srgbClr val="41E6A5"/>
                </a:solidFill>
                <a:latin typeface="Aptos"/>
              </a:rPr>
              <a:t>SYSTEM STATUS: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01  /  Introduction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1508760"/>
            <a:ext cx="6675120" cy="438912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12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1783080"/>
            <a:ext cx="6126480" cy="3840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2F8FF"/>
                </a:solidFill>
                <a:latin typeface="Aptos"/>
              </a:defRPr>
            </a:pPr>
            <a:r>
              <a:t>▸  Digital access control allows entry only when a user enters the correct code.</a:t>
            </a:r>
          </a:p>
          <a:p>
            <a:pPr>
              <a:spcAft>
                <a:spcPts val="1600"/>
              </a:spcAft>
              <a:defRPr sz="1800">
                <a:solidFill>
                  <a:srgbClr val="F2F8FF"/>
                </a:solidFill>
                <a:latin typeface="Aptos"/>
              </a:defRPr>
            </a:pPr>
            <a:r>
              <a:t>▸  The input is represented as binary bits and checked using logic gates.</a:t>
            </a:r>
          </a:p>
          <a:p>
            <a:pPr>
              <a:spcAft>
                <a:spcPts val="1600"/>
              </a:spcAft>
              <a:defRPr sz="1800">
                <a:solidFill>
                  <a:srgbClr val="F2F8FF"/>
                </a:solidFill>
                <a:latin typeface="Aptos"/>
              </a:defRPr>
            </a:pPr>
            <a:r>
              <a:t>▸  A valid code activates the unlock signal; an invalid code keeps access denied.</a:t>
            </a:r>
          </a:p>
          <a:p>
            <a:pPr>
              <a:spcAft>
                <a:spcPts val="1600"/>
              </a:spcAft>
              <a:defRPr sz="1800">
                <a:solidFill>
                  <a:srgbClr val="F2F8FF"/>
                </a:solidFill>
                <a:latin typeface="Aptos"/>
              </a:defRPr>
            </a:pPr>
            <a:r>
              <a:t>▸  This project demonstrates a basic security concept using combinational logic.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508760"/>
            <a:ext cx="3474720" cy="4389120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1828800"/>
            <a:ext cx="2834640" cy="36576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200" b="1">
                <a:solidFill>
                  <a:srgbClr val="00DCE6"/>
                </a:solidFill>
                <a:latin typeface="Aptos"/>
              </a:rPr>
              <a:t>CORE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560320"/>
            <a:ext cx="2743200" cy="10058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2100" b="1">
                <a:solidFill>
                  <a:srgbClr val="F2F8FF"/>
                </a:solidFill>
                <a:latin typeface="Aptos"/>
              </a:rPr>
              <a:t>INPUT
→ COMPARE
→ 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06240"/>
            <a:ext cx="2834640" cy="7772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300" b="0">
                <a:solidFill>
                  <a:srgbClr val="ADC3DA"/>
                </a:solidFill>
                <a:latin typeface="Aptos"/>
              </a:rPr>
              <a:t>Correct code = access granted
Wrong code = access denied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02  /  Aim &amp;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417320"/>
            <a:ext cx="10332720" cy="6858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1">
                <a:solidFill>
                  <a:srgbClr val="00DCE6"/>
                </a:solidFill>
                <a:latin typeface="Aptos"/>
              </a:rPr>
              <a:t>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737360"/>
            <a:ext cx="10332720" cy="6858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100" b="1">
                <a:solidFill>
                  <a:srgbClr val="F2F8FF"/>
                </a:solidFill>
                <a:latin typeface="Aptos"/>
              </a:rPr>
              <a:t>Design and simulate a digital circuit that validates a user-entered access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971800"/>
            <a:ext cx="2468880" cy="201168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3200400"/>
            <a:ext cx="50292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300" b="1">
                <a:solidFill>
                  <a:srgbClr val="00DCE6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57600"/>
            <a:ext cx="20574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500" b="1">
                <a:solidFill>
                  <a:srgbClr val="F2F8FF"/>
                </a:solidFill>
                <a:latin typeface="Apto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96512"/>
            <a:ext cx="2057400" cy="6583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Accept a 4-bit binary code.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2971800"/>
            <a:ext cx="2468880" cy="201168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3200400"/>
            <a:ext cx="50292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300" b="1">
                <a:solidFill>
                  <a:srgbClr val="00DCE6"/>
                </a:solidFill>
                <a:latin typeface="Aptos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657600"/>
            <a:ext cx="20574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500" b="1">
                <a:solidFill>
                  <a:srgbClr val="F2F8FF"/>
                </a:solidFill>
                <a:latin typeface="Aptos"/>
              </a:rP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096512"/>
            <a:ext cx="2057400" cy="6583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Check each bit against a preset passcode.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971800"/>
            <a:ext cx="2468880" cy="201168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200400"/>
            <a:ext cx="50292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300" b="1">
                <a:solidFill>
                  <a:srgbClr val="00DCE6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657600"/>
            <a:ext cx="20574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500" b="1">
                <a:solidFill>
                  <a:srgbClr val="F2F8FF"/>
                </a:solidFill>
                <a:latin typeface="Aptos"/>
              </a:rP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096512"/>
            <a:ext cx="2057400" cy="6583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Generate UNLOCK or DENIED outputs.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971800"/>
            <a:ext cx="2468880" cy="201168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81159" y="3200400"/>
            <a:ext cx="50292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300" b="1">
                <a:solidFill>
                  <a:srgbClr val="00DCE6"/>
                </a:solidFill>
                <a:latin typeface="Aptos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3657600"/>
            <a:ext cx="20574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500" b="1">
                <a:solidFill>
                  <a:srgbClr val="F2F8FF"/>
                </a:solidFill>
                <a:latin typeface="Aptos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59" y="4096512"/>
            <a:ext cx="2057400" cy="6583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Test correct and incorrect code combinations.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03  /  System Block Diagram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1325880"/>
            <a:ext cx="10835640" cy="4389120"/>
          </a:xfrm>
          <a:prstGeom prst="roundRect">
            <a:avLst/>
          </a:prstGeom>
          <a:solidFill>
            <a:srgbClr val="F2F8FF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oor_access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424160" cy="3154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0120" y="4983480"/>
            <a:ext cx="10241280" cy="5029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500" b="1">
                <a:solidFill>
                  <a:srgbClr val="071023"/>
                </a:solidFill>
                <a:latin typeface="Aptos"/>
              </a:rPr>
              <a:t>Input → comparator → control decision → door driver and status indicators.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70448"/>
            <a:ext cx="1042416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100" b="0">
                <a:solidFill>
                  <a:srgbClr val="ADC3DA"/>
                </a:solidFill>
                <a:latin typeface="Aptos"/>
              </a:rPr>
              <a:t>Hardware note: a suitable driver stage is required to operate a physical 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04  /  Components &amp; Functions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1481328"/>
            <a:ext cx="3429000" cy="169164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16459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1984248"/>
            <a:ext cx="2971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600" b="1">
                <a:solidFill>
                  <a:srgbClr val="F2F8FF"/>
                </a:solidFill>
                <a:latin typeface="Aptos"/>
              </a:rPr>
              <a:t>Switches / keypad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2414016"/>
            <a:ext cx="2971800" cy="56692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Provide the 4-bit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44568" y="1481328"/>
            <a:ext cx="3429000" cy="169164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45736" y="16459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COMPARE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1984248"/>
            <a:ext cx="2971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600" b="1">
                <a:solidFill>
                  <a:srgbClr val="F2F8FF"/>
                </a:solidFill>
                <a:latin typeface="Aptos"/>
              </a:rPr>
              <a:t>XNOR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736" y="2414016"/>
            <a:ext cx="2971800" cy="56692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Output 1 when input and stored bits match.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1896" y="1481328"/>
            <a:ext cx="3429000" cy="169164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13064" y="16459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1984248"/>
            <a:ext cx="2971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600" b="1">
                <a:solidFill>
                  <a:srgbClr val="F2F8FF"/>
                </a:solidFill>
                <a:latin typeface="Aptos"/>
              </a:rPr>
              <a:t>AND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3064" y="2414016"/>
            <a:ext cx="2971800" cy="56692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Unlocks only when every bit matches.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538728"/>
            <a:ext cx="3429000" cy="169164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8408" y="37033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INDICATE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4041648"/>
            <a:ext cx="2971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600" b="1">
                <a:solidFill>
                  <a:srgbClr val="F2F8FF"/>
                </a:solidFill>
                <a:latin typeface="Aptos"/>
              </a:rPr>
              <a:t>LED / buzzer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" y="4471416"/>
            <a:ext cx="2971800" cy="56692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Shows granted or denied status.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4568" y="3538728"/>
            <a:ext cx="3429000" cy="169164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45736" y="37033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DRIVE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45736" y="4041648"/>
            <a:ext cx="2971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600" b="1">
                <a:solidFill>
                  <a:srgbClr val="F2F8FF"/>
                </a:solidFill>
                <a:latin typeface="Aptos"/>
              </a:rPr>
              <a:t>Transistor / relay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45736" y="4471416"/>
            <a:ext cx="2971800" cy="56692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Interfaces logic with the electronic lock.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1896" y="3538728"/>
            <a:ext cx="3429000" cy="169164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13064" y="3703320"/>
            <a:ext cx="2971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POWER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3064" y="4041648"/>
            <a:ext cx="2971800" cy="32004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600" b="1">
                <a:solidFill>
                  <a:srgbClr val="F2F8FF"/>
                </a:solidFill>
                <a:latin typeface="Aptos"/>
              </a:rPr>
              <a:t>Regulated supply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3064" y="4471416"/>
            <a:ext cx="2971800" cy="56692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200" b="0">
                <a:solidFill>
                  <a:srgbClr val="ADC3DA"/>
                </a:solidFill>
                <a:latin typeface="Aptos"/>
              </a:rPr>
              <a:t>Powers logic and lock circuitry.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05  /  Circuit Diagram: 4-bit Comparator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1325880"/>
            <a:ext cx="10835640" cy="4434840"/>
          </a:xfrm>
          <a:prstGeom prst="roundRect">
            <a:avLst/>
          </a:prstGeom>
          <a:solidFill>
            <a:srgbClr val="F2F8FF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oor_access_logic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10515600" cy="37947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05840" y="5833872"/>
            <a:ext cx="10058400" cy="384048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5888736"/>
            <a:ext cx="978408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100" b="1">
                <a:solidFill>
                  <a:srgbClr val="00DCE6"/>
                </a:solidFill>
                <a:latin typeface="Aptos"/>
              </a:rPr>
              <a:t>EXAMPLE PASSCODE: 1011     |     UNLOCK = E3 · E2 · E1 · E0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06  /  Working Principle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1280160"/>
            <a:ext cx="9921240" cy="4892040"/>
          </a:xfrm>
          <a:prstGeom prst="roundRect">
            <a:avLst/>
          </a:prstGeom>
          <a:solidFill>
            <a:srgbClr val="F2F8FF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oor_access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417320"/>
            <a:ext cx="6263640" cy="45262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17320" y="5715000"/>
            <a:ext cx="9326880" cy="25603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200" b="1">
                <a:solidFill>
                  <a:srgbClr val="071023"/>
                </a:solidFill>
                <a:latin typeface="Aptos"/>
              </a:rPr>
              <a:t>The system compares all four bits before making an access decision.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07  /  Simulation &amp; 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1325880"/>
            <a:ext cx="10241280" cy="36576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100" b="1">
                <a:solidFill>
                  <a:srgbClr val="00DCE6"/>
                </a:solidFill>
                <a:latin typeface="Aptos"/>
              </a:rPr>
              <a:t>EXPECTED BEHAVIOUR  /  ONLY 1011 SHOULD UNLOCK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22960" y="1828800"/>
          <a:ext cx="10515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2F8FF"/>
                          </a:solidFill>
                          <a:latin typeface="Aptos"/>
                        </a:rPr>
                        <a:t>ENTERED CODE</a:t>
                      </a:r>
                    </a:p>
                  </a:txBody>
                  <a:tcPr marL="54864" marR="54864">
                    <a:solidFill>
                      <a:srgbClr val="2D7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2F8FF"/>
                          </a:solidFill>
                          <a:latin typeface="Aptos"/>
                        </a:rPr>
                        <a:t>BIT MATCH OUTPUTS</a:t>
                      </a:r>
                    </a:p>
                  </a:txBody>
                  <a:tcPr marL="54864" marR="54864">
                    <a:solidFill>
                      <a:srgbClr val="2D7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2F8FF"/>
                          </a:solidFill>
                          <a:latin typeface="Aptos"/>
                        </a:rPr>
                        <a:t>UNLOCK</a:t>
                      </a:r>
                    </a:p>
                  </a:txBody>
                  <a:tcPr marL="54864" marR="54864">
                    <a:solidFill>
                      <a:srgbClr val="2D7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2F8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54864" marR="54864">
                    <a:solidFill>
                      <a:srgbClr val="2D7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1011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1 1 1 1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1E6A5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ACCESS GRANTED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1010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1 1 1 0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2F8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ACCESS DENIED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0011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0 1 1 1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2F8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ACCESS DENIED</a:t>
                      </a:r>
                    </a:p>
                  </a:txBody>
                  <a:tcPr marL="54864" marR="54864">
                    <a:solidFill>
                      <a:srgbClr val="0D1E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1111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1 0 1 1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2F8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2F8FF"/>
                          </a:solidFill>
                          <a:latin typeface="Aptos"/>
                        </a:rPr>
                        <a:t>ACCESS DENIED</a:t>
                      </a:r>
                    </a:p>
                  </a:txBody>
                  <a:tcPr marL="54864" marR="54864">
                    <a:solidFill>
                      <a:srgbClr val="122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960120" y="5577840"/>
            <a:ext cx="10195560" cy="50292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5696712"/>
            <a:ext cx="9829800" cy="201168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200" b="0">
                <a:solidFill>
                  <a:srgbClr val="ADC3DA"/>
                </a:solidFill>
                <a:latin typeface="Aptos"/>
              </a:rPr>
              <a:t>SIMULATION CHECK: toggle each input bit and observe the UNLOCK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3619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0662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7705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4748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0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8352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58784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729216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99648" y="1033271"/>
            <a:ext cx="475488" cy="16459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47472"/>
            <a:ext cx="64008" cy="3840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"/>
            <a:ext cx="4114800" cy="2286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900" b="1">
                <a:solidFill>
                  <a:srgbClr val="00DCE6"/>
                </a:solidFill>
                <a:latin typeface="Aptos"/>
              </a:rPr>
              <a:t>DIGITAL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"/>
            <a:ext cx="10881360" cy="43891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2500" b="1">
                <a:solidFill>
                  <a:srgbClr val="F2F8FF"/>
                </a:solidFill>
                <a:latin typeface="Aptos"/>
              </a:rPr>
              <a:t>08  /  Conclusion &amp; Future Improvements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115568"/>
            <a:ext cx="960120" cy="41148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09960" y="347472"/>
            <a:ext cx="502920" cy="347472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09960" y="393192"/>
            <a:ext cx="502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000" b="1">
                <a:solidFill>
                  <a:srgbClr val="00DCE6"/>
                </a:solidFill>
                <a:latin typeface="Aptos"/>
              </a:rPr>
              <a:t>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12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6510528"/>
            <a:ext cx="6400800" cy="164592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1417320"/>
            <a:ext cx="6492240" cy="452628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00B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1737360"/>
            <a:ext cx="5943600" cy="37490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2F8FF"/>
                </a:solidFill>
                <a:latin typeface="Aptos"/>
              </a:defRPr>
            </a:pPr>
            <a:r>
              <a:t>▸  The design demonstrates access control using XNOR and AND gates.</a:t>
            </a:r>
          </a:p>
          <a:p>
            <a:pPr>
              <a:spcAft>
                <a:spcPts val="1400"/>
              </a:spcAft>
              <a:defRPr sz="1700">
                <a:solidFill>
                  <a:srgbClr val="F2F8FF"/>
                </a:solidFill>
                <a:latin typeface="Aptos"/>
              </a:defRPr>
            </a:pPr>
            <a:r>
              <a:t>▸  Only code 1011 produces a HIGH unlock signal.</a:t>
            </a:r>
          </a:p>
          <a:p>
            <a:pPr>
              <a:spcAft>
                <a:spcPts val="1400"/>
              </a:spcAft>
              <a:defRPr sz="1700">
                <a:solidFill>
                  <a:srgbClr val="F2F8FF"/>
                </a:solidFill>
                <a:latin typeface="Aptos"/>
              </a:defRPr>
            </a:pPr>
            <a:r>
              <a:t>▸  Simulation helps verify logic before hardware implementation.</a:t>
            </a:r>
          </a:p>
          <a:p>
            <a:pPr>
              <a:spcAft>
                <a:spcPts val="1400"/>
              </a:spcAft>
              <a:defRPr sz="1700">
                <a:solidFill>
                  <a:srgbClr val="F2F8FF"/>
                </a:solidFill>
                <a:latin typeface="Aptos"/>
              </a:defRPr>
            </a:pPr>
            <a:r>
              <a:t>▸  A fixed 4-bit passcode is a learning example, not real-world security.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417320"/>
            <a:ext cx="3611880" cy="4526280"/>
          </a:xfrm>
          <a:prstGeom prst="roundRect">
            <a:avLst/>
          </a:prstGeom>
          <a:solidFill>
            <a:srgbClr val="122B48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79" y="1737360"/>
            <a:ext cx="2971800" cy="36576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200" b="1">
                <a:solidFill>
                  <a:srgbClr val="00DCE6"/>
                </a:solidFill>
                <a:latin typeface="Aptos"/>
              </a:rPr>
              <a:t>NEXT ITERATION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0" y="2423160"/>
            <a:ext cx="128016" cy="128016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2359152"/>
            <a:ext cx="25146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400" b="1">
                <a:solidFill>
                  <a:srgbClr val="F2F8FF"/>
                </a:solidFill>
                <a:latin typeface="Aptos"/>
              </a:rPr>
              <a:t>Longer passcode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0" y="3108960"/>
            <a:ext cx="128016" cy="128016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3044952"/>
            <a:ext cx="25146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400" b="1">
                <a:solidFill>
                  <a:srgbClr val="F2F8FF"/>
                </a:solidFill>
                <a:latin typeface="Aptos"/>
              </a:rPr>
              <a:t>Keypad encoding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0" y="3794760"/>
            <a:ext cx="128016" cy="128016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730752"/>
            <a:ext cx="25146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400" b="1">
                <a:solidFill>
                  <a:srgbClr val="F2F8FF"/>
                </a:solidFill>
                <a:latin typeface="Aptos"/>
              </a:rPr>
              <a:t>Attempt limit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0" y="4480560"/>
            <a:ext cx="128016" cy="128016"/>
          </a:xfrm>
          <a:prstGeom prst="ellipse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4416552"/>
            <a:ext cx="2514600" cy="27432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r>
              <a:rPr sz="1400" b="1">
                <a:solidFill>
                  <a:srgbClr val="F2F8FF"/>
                </a:solidFill>
                <a:latin typeface="Aptos"/>
              </a:rPr>
              <a:t>Alarm / lockout timer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43000" y="1005840"/>
            <a:ext cx="9921240" cy="4846320"/>
          </a:xfrm>
          <a:prstGeom prst="roundRect">
            <a:avLst/>
          </a:prstGeom>
          <a:solidFill>
            <a:srgbClr val="0D1E39"/>
          </a:solidFill>
          <a:ln w="15240">
            <a:solidFill>
              <a:srgbClr val="2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566160" y="1874519"/>
            <a:ext cx="5029200" cy="45720"/>
          </a:xfrm>
          <a:prstGeom prst="rect">
            <a:avLst/>
          </a:prstGeom>
          <a:solidFill>
            <a:srgbClr val="00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2697480"/>
            <a:ext cx="8961120" cy="91440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4200" b="1" dirty="0">
                <a:solidFill>
                  <a:srgbClr val="F2F8FF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206240"/>
            <a:ext cx="8321040" cy="36576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1300" b="1">
                <a:solidFill>
                  <a:srgbClr val="ADC3DA"/>
                </a:solidFill>
                <a:latin typeface="Aptos"/>
              </a:rPr>
              <a:t>SRIHITHA  •  PRANATHI  •  LAHARI  •  NITISH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4983480"/>
            <a:ext cx="5029200" cy="4572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89920" cy="182880"/>
          </a:xfrm>
          <a:prstGeom prst="rect">
            <a:avLst/>
          </a:prstGeom>
          <a:noFill/>
        </p:spPr>
        <p:txBody>
          <a:bodyPr wrap="square" lIns="54864" tIns="27432" rIns="54864" bIns="18288">
            <a:spAutoFit/>
          </a:bodyPr>
          <a:lstStyle/>
          <a:p>
            <a:pPr algn="ctr"/>
            <a:r>
              <a:rPr sz="800" b="0">
                <a:solidFill>
                  <a:srgbClr val="ADC3DA"/>
                </a:solidFill>
                <a:latin typeface="Aptos"/>
              </a:rPr>
              <a:t>DIGITAL DOOR ACCESS CONTROL  / 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548</Words>
  <Application>Microsoft Office PowerPoint</Application>
  <PresentationFormat>Widescreen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Srihitha Chintha</dc:creator>
  <cp:keywords/>
  <dc:description>generated using python-pptx</dc:description>
  <cp:lastModifiedBy>Srihitha Chintha</cp:lastModifiedBy>
  <cp:revision>2</cp:revision>
  <dcterms:created xsi:type="dcterms:W3CDTF">2013-01-27T09:14:16Z</dcterms:created>
  <dcterms:modified xsi:type="dcterms:W3CDTF">2026-10-15T02:28:59Z</dcterms:modified>
  <cp:category/>
</cp:coreProperties>
</file>